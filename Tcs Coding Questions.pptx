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64" r:id="rId17"/>
    <p:sldId id="265" r:id="rId18"/>
    <p:sldId id="269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58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20040"/>
            <a:ext cx="2926080" cy="786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1325880"/>
            <a:ext cx="6400800" cy="36576"/>
          </a:xfrm>
          <a:prstGeom prst="rect">
            <a:avLst/>
          </a:prstGeom>
          <a:solidFill>
            <a:srgbClr val="A855F7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NQT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3152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Reasoning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40280" y="310896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24028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749040" y="310896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74904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57800" y="310896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25780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66560" y="310896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76656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Problems: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r>
              <a:rPr lang="en-US" sz="1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Source: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NQT 2026 + CodeChef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D9F3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GradStreet | Your Pathway to Career Success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4572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TCS NQT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Reasoning | Conditional Logic | DP | Greedy | Graphs</a:t>
            </a:r>
            <a:endParaRPr lang="en-US" sz="1800" dirty="0"/>
          </a:p>
        </p:txBody>
      </p:sp>
      <p:pic>
        <p:nvPicPr>
          <p:cNvPr id="6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003" y="274320"/>
            <a:ext cx="1325880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Calculator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4884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problem — compute final payable amount after applying discount based on purchase amount slabs.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>
                <a:latin typeface="Calibri "/>
              </a:rPr>
              <a:t>A shopping mall offers discounts to customers based on their purchase amount. Your task is to calculate the final payable amount after applying the correct discount percentage.</a:t>
            </a:r>
          </a:p>
          <a:p>
            <a:r>
              <a:rPr lang="en-IN" sz="900" dirty="0">
                <a:latin typeface="Calibri "/>
              </a:rPr>
              <a:t>Discount Rules:</a:t>
            </a:r>
          </a:p>
          <a:p>
            <a:pPr fontAlgn="base"/>
            <a:r>
              <a:rPr lang="en-IN" sz="900" dirty="0">
                <a:latin typeface="Calibri "/>
              </a:rPr>
              <a:t>If the purchase amount is less than 1000 → 5% discount</a:t>
            </a:r>
          </a:p>
          <a:p>
            <a:pPr fontAlgn="base"/>
            <a:r>
              <a:rPr lang="en-IN" sz="900" dirty="0">
                <a:latin typeface="Calibri "/>
              </a:rPr>
              <a:t>If the purchase amount is greater than or equal to 1000 and less than 5000 → 10% discount</a:t>
            </a:r>
          </a:p>
          <a:p>
            <a:pPr fontAlgn="base"/>
            <a:r>
              <a:rPr lang="en-IN" sz="900" dirty="0">
                <a:latin typeface="Calibri "/>
              </a:rPr>
              <a:t>If the purchase amount is greater than or equal to 5000 → 15% discount</a:t>
            </a:r>
          </a:p>
        </p:txBody>
      </p:sp>
      <p:sp>
        <p:nvSpPr>
          <p:cNvPr id="12" name="Shape 9"/>
          <p:cNvSpPr/>
          <p:nvPr/>
        </p:nvSpPr>
        <p:spPr>
          <a:xfrm>
            <a:off x="182880" y="2192274"/>
            <a:ext cx="411480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1488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amount representing the total purchase value.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185416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14884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final amount after discount, rounded to 2 decimal places.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843784"/>
            <a:ext cx="8778240" cy="502920"/>
          </a:xfrm>
          <a:prstGeom prst="rect">
            <a:avLst/>
          </a:prstGeom>
          <a:solidFill>
            <a:srgbClr val="1A1A2E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898648"/>
            <a:ext cx="8503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2000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1800.00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419856"/>
            <a:ext cx="8778240" cy="347472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4564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lies between 1000 and 5000 → 10% discount applied. Discount = 2000 × 10% = 200. Final Amount = 2000 − 200 = 1800.00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the King's Army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616" y="214884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problem — count valid arrangements of soldiers such that adjacency and boundary conditions are satisfied.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king wants to arrange N soldiers in a line. Soldiers are numbered 1 to 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2880" y="17922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202996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arrangement must start with soldier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" y="227685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arrangement must end with soldier 'end'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25237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adjacent soldiers can have the same number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" y="27706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soldier number from 1 to R can be used multiple times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0040" y="3017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total number of valid arrangements of length 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82880" y="3264408"/>
            <a:ext cx="411480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30098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integers: N  R  end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34840" y="3264408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526280" y="3300984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representing the number of valid arrangements.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82880" y="3995928"/>
            <a:ext cx="8778240" cy="502920"/>
          </a:xfrm>
          <a:prstGeom prst="rect">
            <a:avLst/>
          </a:prstGeom>
          <a:solidFill>
            <a:srgbClr val="1A1A2E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20040" y="4050792"/>
            <a:ext cx="8503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3 2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1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82880" y="4572000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74320" y="460857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of length 3 starting with 1 and ending with 2, no adjacent same values. Only 1 valid arrangement exists.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Fine Calculation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96596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conditional logic — the fine amount varies based on parking duration in hours.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parking system calculates fines based on the number of hours a vehicle is parked.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Parking time ≤ 2 hours → fine = 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Parking time &gt; 2 and ≤ 5 hours → fine = 50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Parking time &gt; 5 hours → fine = 20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112264"/>
            <a:ext cx="4114800" cy="640080"/>
          </a:xfrm>
          <a:prstGeom prst="rect">
            <a:avLst/>
          </a:prstGeom>
          <a:solidFill>
            <a:srgbClr val="0EA5E9">
              <a:alpha val="12000"/>
            </a:srgbClr>
          </a:solidFill>
          <a:ln w="635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1488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integer hours representing parking duration.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112264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14884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integer representing the fine amount.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843784"/>
            <a:ext cx="8778240" cy="502920"/>
          </a:xfrm>
          <a:prstGeom prst="rect">
            <a:avLst/>
          </a:prstGeom>
          <a:solidFill>
            <a:srgbClr val="1A1A2E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898648"/>
            <a:ext cx="8503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50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419856"/>
            <a:ext cx="8778240" cy="27432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4564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lies between 2 and 5, so the fine is 50.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Sum of Elements ≤ Given Limit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226314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optimization (0/1 Knapsack variant) — maximize the sum of selected elements without exceeding a given constraint.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an array of integers of size n and an integer maxSum. Find the maximum possible sum of elements from the array such that the sum ≤ maxSum. You can select any subset of elements.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020824"/>
            <a:ext cx="4114800" cy="73152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274320" y="20574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n → size of array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arr[n] → elements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maxSum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020824"/>
            <a:ext cx="4526280" cy="73152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057400"/>
            <a:ext cx="4343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integer: maximum possible sum ≤ maxSum.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752344"/>
            <a:ext cx="8778240" cy="502920"/>
          </a:xfrm>
          <a:prstGeom prst="rect">
            <a:avLst/>
          </a:prstGeom>
          <a:solidFill>
            <a:srgbClr val="1A1A2E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807208"/>
            <a:ext cx="8503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n=4  arr=[3, 5, 7, 10]  maxSum=14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13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328416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36499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{3,10}→13 ✅  {5,7}→12  {3,5,7}→15 ❌ (exceeds). Maximum valid sum = 13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Soldier Arrangement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4884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/ combinatorial counting — count sequences under strict positional and adjacency constraints.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N soldiers in a line. Each soldier has a value from 1 to R. Count all valid arrangements satisfying the rules.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2880" y="18836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21214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soldier must have value =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" y="23682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soldier must have value = end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2615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adjacent soldiers can have the same value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2880" y="2862072"/>
            <a:ext cx="4114800" cy="640080"/>
          </a:xfrm>
          <a:prstGeom prst="rect">
            <a:avLst/>
          </a:prstGeom>
          <a:solidFill>
            <a:srgbClr val="8B5CF6">
              <a:alpha val="12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74320" y="28986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integers: N, R, end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34840" y="2862072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526280" y="289864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representing the number of valid arrangements.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82880" y="3593592"/>
            <a:ext cx="8778240" cy="685800"/>
          </a:xfrm>
          <a:prstGeom prst="rect">
            <a:avLst/>
          </a:prstGeom>
          <a:solidFill>
            <a:srgbClr val="1A1A2E"/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20040" y="3648456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N=4, R=4, end=3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7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sequences: 1 2 4 3 | 1 2 1 3 | 1 3 1 3 | 1 3 2 3 | 1 3 4 3 | 1 4 2 3 | 1 4 1 3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82880" y="4352544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74320" y="438912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of length 4 starting with 1, ending with 3, no two adjacent values equal → 7 valid arrangements.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Membership Cost Calculation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05740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Decision-based pricing logic — total membership cost determined by predefined subscription plans.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gym offers membership plans for specific durations with fixed prices: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month → ₹2000   • 3 months → ₹5000   • 6 months → ₹9000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months → ₹12000   • 12 months → ₹15000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input does not match any valid plan, print "Error".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157984"/>
            <a:ext cx="4114800" cy="64008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1945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integer n representing the number of months.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157984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19456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total membership cost if valid; otherwise print "Error".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889504"/>
            <a:ext cx="8778240" cy="594360"/>
          </a:xfrm>
          <a:prstGeom prst="rect">
            <a:avLst/>
          </a:prstGeom>
          <a:solidFill>
            <a:srgbClr val="1A1A2E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944368"/>
            <a:ext cx="8503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1  →  Output: 2000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9  →  Output: 12000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5  →  Output: Error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557016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59359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plans are only for 1, 3, 6, 9, 12 months. Input 5 does not match any plan → output is "Error".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 Capacity (Greedy)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33172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approach — maximize the number of people accommodated within the balloon's weight capacity.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weights[] (array of people's weights) and maxWeight (maximum balloon capacity). Find the maximum number of people that can fit. Always select lighter people first (greedy).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020824"/>
            <a:ext cx="4114800" cy="873252"/>
          </a:xfrm>
          <a:prstGeom prst="rect">
            <a:avLst/>
          </a:prstGeom>
          <a:solidFill>
            <a:srgbClr val="06B6D4">
              <a:alpha val="12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057400"/>
            <a:ext cx="393192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N → number of people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weights[N]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maxWeight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020824"/>
            <a:ext cx="4526280" cy="882396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05740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maximum number of people.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3150108"/>
            <a:ext cx="8778240" cy="850392"/>
          </a:xfrm>
          <a:prstGeom prst="rect">
            <a:avLst/>
          </a:prstGeom>
          <a:solidFill>
            <a:srgbClr val="1A1A2E"/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41006" y="3218688"/>
            <a:ext cx="8595360" cy="836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20 30 40 50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50" dirty="0"/>
          </a:p>
          <a:p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3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6326" y="4009644"/>
            <a:ext cx="877824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401193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20+30+40=90 ≤ 100 ✅. Adding 50 → 140 &gt; 100 ❌. Maximum people = 3.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to Connect All Nodes (MST)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10312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problem — find the minimum total cost to connect all nodes using Minimum Spanning Tree (Kruskal's / Prim's).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V vertices and E edges. Each edge has a source vertex, destination vertex, and weight. Find the minimum cost required to connect all nodes using MST.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975104"/>
            <a:ext cx="4114800" cy="864590"/>
          </a:xfrm>
          <a:prstGeom prst="rect">
            <a:avLst/>
          </a:prstGeom>
          <a:solidFill>
            <a:srgbClr val="059669">
              <a:alpha val="12000"/>
            </a:srgbClr>
          </a:solidFill>
          <a:ln w="6350">
            <a:solidFill>
              <a:srgbClr val="0596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011679"/>
            <a:ext cx="3931920" cy="7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line: V 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 lines: u v 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(u=source, v=dest, w=weight)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75104"/>
            <a:ext cx="4526280" cy="86459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01168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Minimum Cost: &lt;cost&gt;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3059810"/>
            <a:ext cx="8778240" cy="846963"/>
          </a:xfrm>
          <a:prstGeom prst="rect">
            <a:avLst/>
          </a:prstGeom>
          <a:solidFill>
            <a:srgbClr val="1A1A2E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13437" y="3244977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10 | 1 3 6 | 1 4 5 | 2 4 15 | 3 4 4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Minimum Cost: 19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906774"/>
            <a:ext cx="877824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28600" y="393649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edges: 3→4=4, 1→4=5, 1→2=10. Total cost = 4+5+10 = 19.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Last Occurrence (Binary Search)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50" y="233172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problem — find first and last occurrence of a target in a sorted array and return their difference.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 sorted array of integers of size N and a target value X.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the first occurrence of 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the last occurrence of 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Return the difference between last and first occurrence.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target is not present, print -1.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1168" y="2251710"/>
            <a:ext cx="4114800" cy="852678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92608" y="23545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Integer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2: N space-separated sorted integers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3: Target element X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16552" y="2244852"/>
            <a:ext cx="4526280" cy="850392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313432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FirstOccurrence  LastOccurrence  Difference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3314700"/>
            <a:ext cx="8778240" cy="822960"/>
          </a:xfrm>
          <a:prstGeom prst="rect">
            <a:avLst/>
          </a:prstGeom>
          <a:solidFill>
            <a:srgbClr val="1A1A2E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347472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1 2 2 2 3 4 5 5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1 3 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5867" y="4178808"/>
            <a:ext cx="877824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421081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 first occurs at index 1, last at index 3. Difference = 3 − 1 = 2.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Coins Required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96596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D9770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/ Dynamic programming — find minimum number of coins to make a given amount using standard denominations.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amount, find the minimum number of coins required using denominations: 1, 2, 5, 10, 20, 50, 100, 500.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929384"/>
            <a:ext cx="4114800" cy="640080"/>
          </a:xfrm>
          <a:prstGeom prst="rect">
            <a:avLst/>
          </a:prstGeom>
          <a:solidFill>
            <a:srgbClr val="D97706">
              <a:alpha val="12000"/>
            </a:srgbClr>
          </a:solidFill>
          <a:ln w="635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1965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— the amount.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29384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196596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— the minimum number of coins.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660904"/>
            <a:ext cx="8778240" cy="640080"/>
          </a:xfrm>
          <a:prstGeom prst="rect">
            <a:avLst/>
          </a:prstGeom>
          <a:solidFill>
            <a:srgbClr val="1A1A2E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71576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93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Explanation: 50 + 20 + 20 + 2 + 1 = 93  →  5 coins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374136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41071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Greedy: always pick the largest denomination ≤ remaining amount. 50+20+20+2+1 = 93 in 5 coins.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Robber Problem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677156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— find the maximum money that can be robbed without robbing two adjacent houses.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where each element represents money in a house, find the maximum money that can be robbed such that no two adjacent houses are robbed.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929384"/>
            <a:ext cx="4114800" cy="64008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1965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N → number of houses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N integers (money in each house)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29384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196596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— maximum money that can be robbed.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731770"/>
            <a:ext cx="8778240" cy="788670"/>
          </a:xfrm>
          <a:prstGeom prst="rect">
            <a:avLst/>
          </a:prstGeom>
          <a:solidFill>
            <a:srgbClr val="1A1A2E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74320" y="2830505"/>
            <a:ext cx="8503920" cy="587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2 7 9 3 1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12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561588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557016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houses at indices 0, 2, 4 → values 2, 9, 1 = 12. (Can't rob adjacent houses 1 and 2 together.)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Path Sum in Matrix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677156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on grid — find the minimum path sum from top-left to bottom-right moving only right or down.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N × M matrix, find the minimum path sum from top-left (0,0) to bottom-right (N-1, M-1). You can only move right or down at each step.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956816"/>
            <a:ext cx="4114800" cy="640080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19933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N M (rows and columns)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N lines: M integers each (matrix values)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56816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1993392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— the minimum path sum.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803778"/>
            <a:ext cx="8778240" cy="1130619"/>
          </a:xfrm>
          <a:prstGeom prst="rect">
            <a:avLst/>
          </a:prstGeom>
          <a:solidFill>
            <a:srgbClr val="1A1A2E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743200"/>
            <a:ext cx="8503920" cy="1159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1 3 1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1 5 1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4 2 1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7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1502" y="4087177"/>
            <a:ext cx="877824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63981" y="41193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path: 1 → 3 → 1 → 1 → 1 = 7. (Top row then last column.)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Islands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4884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BFS/DFS graph problem — count connected components of 1s (land) in a binary matrix.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binary matrix where 1 represents land and 0 represents water, count the number of islands. An island is a group of connected 1s (horizontally or vertically connected).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993392"/>
            <a:ext cx="4114800" cy="640080"/>
          </a:xfrm>
          <a:prstGeom prst="rect">
            <a:avLst/>
          </a:prstGeom>
          <a:solidFill>
            <a:srgbClr val="2563EB">
              <a:alpha val="12000"/>
            </a:srgbClr>
          </a:solidFill>
          <a:ln w="6350">
            <a:solidFill>
              <a:srgbClr val="2563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02996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N M (rows and columns)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N lines: M integers (0 or 1)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93392"/>
            <a:ext cx="4526280" cy="6400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02996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integer — the number of islands.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724911"/>
            <a:ext cx="8778240" cy="1193293"/>
          </a:xfrm>
          <a:prstGeom prst="rect">
            <a:avLst/>
          </a:prstGeom>
          <a:solidFill>
            <a:srgbClr val="1A1A2E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858074"/>
            <a:ext cx="8503920" cy="927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1 1 0 0 0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1 1 0 0 0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0 0 1 0 0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0 0 0 1 1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3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936492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7307" y="395478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1: top-left cluster of 1s. Island 2: single 1 in middle. Island 3: two 1s at bottom-right. Total = 3.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 System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14884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 validation — detect suspicious activity using transaction history and timestamp-based rules.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N transactions. Each transaction has: Sender, Receiver, Timestamp (Integer), Amount (Integer).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82880" y="18653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21031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Sender + Receiver pair has already appeared → print "error duplication transaction"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" y="23500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difference between two consecutive transaction timestamps is greater than 60 → print "fraud detected"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2596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print "all transaction are valid"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2880" y="2843784"/>
            <a:ext cx="4114800" cy="795528"/>
          </a:xfrm>
          <a:prstGeom prst="rect">
            <a:avLst/>
          </a:prstGeom>
          <a:solidFill>
            <a:srgbClr val="EF4444">
              <a:alpha val="12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74320" y="28803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N → number of transactions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N lines: sender receiver timestamp amount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34840" y="2843784"/>
            <a:ext cx="4526280" cy="795528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6"/>
          <p:cNvSpPr/>
          <p:nvPr/>
        </p:nvSpPr>
        <p:spPr>
          <a:xfrm>
            <a:off x="4526280" y="2958084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of: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duplication transaction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 detected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transaction are valid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8600" y="3886200"/>
            <a:ext cx="8778240" cy="502920"/>
          </a:xfrm>
          <a:prstGeom prst="rect">
            <a:avLst/>
          </a:prstGeom>
          <a:solidFill>
            <a:srgbClr val="1A1A2E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20040" y="3927348"/>
            <a:ext cx="8503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2 | A B 100 500 | A B 110 600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error duplication transaction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8600" y="4455414"/>
            <a:ext cx="8778240" cy="27432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09472" y="44851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A-B appears twice → duplication detected.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 System (continued)</a:t>
            </a:r>
            <a:endParaRPr lang="en-US" sz="18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40" y="201168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5039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– Fraud Detection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1097280"/>
            <a:ext cx="8778240" cy="868680"/>
          </a:xfrm>
          <a:prstGeom prst="rect">
            <a:avLst/>
          </a:prstGeom>
          <a:solidFill>
            <a:srgbClr val="1A1A2E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20040" y="1152144"/>
            <a:ext cx="8503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 100 500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D 200 300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fraud detected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2880" y="2011680"/>
            <a:ext cx="877824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048256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200 − 100 = 100 &gt; 60 → fraud detected.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Registration and Gate Management System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233172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DC262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/ data structure problem — maintain registered vendors and process gate operations with tracking.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society maintains registered vendors. You are given a list of registered vendor IDs and a sequence of gate operations: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ENTRY X: If vendor X is registered, allow entry; otherwise block.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X: Count the check request.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EXIT X: Remove vendor X from active vendors if present.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print: Total Active Vendors | Total Blocked Attempts | Total Checked Requests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295144"/>
            <a:ext cx="4114800" cy="868680"/>
          </a:xfrm>
          <a:prstGeom prst="rect">
            <a:avLst/>
          </a:prstGeom>
          <a:solidFill>
            <a:srgbClr val="DC2626">
              <a:alpha val="12000"/>
            </a:srgbClr>
          </a:solidFill>
          <a:ln w="635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331720"/>
            <a:ext cx="3931920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N (count of vendors)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2: N registered vendor IDs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3: M (number of operations)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 lines: operations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295144"/>
            <a:ext cx="4526280" cy="86868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331720"/>
            <a:ext cx="4343400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Vendors: &lt;count&gt;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Blocked: &lt;count&gt;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Checked: &lt;count&gt;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3218688"/>
            <a:ext cx="8778240" cy="685800"/>
          </a:xfrm>
          <a:prstGeom prst="rect">
            <a:avLst/>
          </a:prstGeom>
          <a:solidFill>
            <a:srgbClr val="1A1A2E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45372" y="3278124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2 vendors [101, 102], 5 ops: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101 | ENTRY 102 | ENTRY 103 | CHECK 105 | EXIT 101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Active Vendors: 1 | Blocked: 1 | Checked: 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4151376"/>
            <a:ext cx="877824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4169664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103 is blocked (not registered). CHECK 105 is counted. EXIT 101 removes it. Active = 1 (102 remains).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4572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TCS CodeChef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Problems | String Matching | Number Theory | Math</a:t>
            </a:r>
            <a:endParaRPr lang="en-US" sz="1800" dirty="0"/>
          </a:p>
        </p:txBody>
      </p:sp>
      <p:pic>
        <p:nvPicPr>
          <p:cNvPr id="6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991" y="278892"/>
            <a:ext cx="1325880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QCC1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Pairs Divisible by 2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33172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problem — find how many pairs of numbers from the list add up to an even number (sum of two elements is divisible by 2).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" y="1408176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 list of N numbers. Find how many pairs (i ≠ j, i &lt; j) from the list add up to an even number. A pair consists of two different positions from the list.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828800"/>
            <a:ext cx="4114800" cy="1037844"/>
          </a:xfrm>
          <a:prstGeom prst="rect">
            <a:avLst/>
          </a:prstGeom>
          <a:solidFill>
            <a:srgbClr val="1D4ED8">
              <a:alpha val="12000"/>
            </a:srgbClr>
          </a:solidFill>
          <a:ln w="6350">
            <a:solidFill>
              <a:srgbClr val="1D4E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02996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T (test cases)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case: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 1: N (length of array)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 2: N integers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1≤T≤100, 2≤N≤10⁵, 0≤arrᵢ≤10⁵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828800"/>
            <a:ext cx="4526280" cy="1035558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02996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case: the number of even-sum pairs.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910078"/>
            <a:ext cx="8778240" cy="841248"/>
          </a:xfrm>
          <a:prstGeom prst="rect">
            <a:avLst/>
          </a:prstGeom>
          <a:solidFill>
            <a:srgbClr val="1A1A2E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3037979"/>
            <a:ext cx="8503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T=3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1: [6,1,2,3] → 2   (pairs: (6,2), (1,3))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2: [2,2,1,7,5,3] → 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3: [4,8] → 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842766"/>
            <a:ext cx="8778240" cy="347472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87248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sum to even iff both are even OR both are odd. Count even numbers (e) and odd numbers (o). Pairs = e*(e-1)/2 + o*(o-1)/2.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QCC2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Row with Most 1s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53" y="233172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matrix problem — find the row index containing the maximum number of 1s. Return first such row on tie.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 2D matrix of size n × m consisting only of 0s and 1s. Find the index (0-based) of the row that contains the maximum number of 1s. On ties, return the first row. If all rows are 0s, output -1.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066544"/>
            <a:ext cx="4114800" cy="850392"/>
          </a:xfrm>
          <a:prstGeom prst="rect">
            <a:avLst/>
          </a:prstGeom>
          <a:solidFill>
            <a:srgbClr val="1D4ED8">
              <a:alpha val="12000"/>
            </a:srgbClr>
          </a:solidFill>
          <a:ln w="6350">
            <a:solidFill>
              <a:srgbClr val="1D4E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103120"/>
            <a:ext cx="3931920" cy="772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T (test cases)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n m, then n rows of m integers (0 or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1≤T≤100, 1≤N,M≤1000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066544"/>
            <a:ext cx="4526280" cy="850392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10312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case: 0-based index of row with most 1s, or -1 if all zeros.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77136" y="3067812"/>
            <a:ext cx="8778240" cy="640080"/>
          </a:xfrm>
          <a:prstGeom prst="rect">
            <a:avLst/>
          </a:prstGeom>
          <a:solidFill>
            <a:srgbClr val="1A1A2E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81613" y="313182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1: 3×4 matrix → row 1 has two 1s → Output: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2: 4×4 matrix → row 3 has four 1s → Output: 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3: 2×1 all zeros → Output: -1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826764"/>
            <a:ext cx="877824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8633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each row, count 1s, track maximum. Return index of first maximum. If max is 0, return -1.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QCC3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Character Occurrences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806" y="242316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 problem — calculate total occurrences of each unique character of str2 within str1.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two strings str1 and str2. For each unique character of str2, count how many times it appears in str1. Return the sum of all such counts.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975104"/>
            <a:ext cx="4114800" cy="739148"/>
          </a:xfrm>
          <a:prstGeom prst="rect">
            <a:avLst/>
          </a:prstGeom>
          <a:solidFill>
            <a:srgbClr val="1D4ED8">
              <a:alpha val="12000"/>
            </a:srgbClr>
          </a:solidFill>
          <a:ln w="6350">
            <a:solidFill>
              <a:srgbClr val="1D4E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011680"/>
            <a:ext cx="3931920" cy="638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T (test cases)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str1 on line 1, str2 on line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1≤T≤100, 1≤|str1|,|str2|≤10⁵, lowercase only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75104"/>
            <a:ext cx="4526280" cy="68580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01168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case: total sum of occurrences on a new line.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76677" y="2801120"/>
            <a:ext cx="8778240" cy="685800"/>
          </a:xfrm>
          <a:prstGeom prst="rect">
            <a:avLst/>
          </a:prstGeom>
          <a:solidFill>
            <a:srgbClr val="1A1A2E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829310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str1="helloworld", str2="do"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'd' appears 1 time, 'o' appears 2 times → Output: 3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str1="abacabadabacaba", str2="abcd" → Output: 15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76677" y="3712464"/>
            <a:ext cx="8778240" cy="347472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unique characters of str2. For each unique char, use str1.count(char). Sum all counts. Note: unique chars of str2 are counted, not all occurrences in str2.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QCC4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Number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211" y="210312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theory — determine if a number is a 'Good Number' (divisible by the sum of its own digits).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Number is defined as a number that is divisible by the sum of its own digits. If N % (sum of digits of N) == 0, print "Good Number", otherwise print "Bad Number".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1993392"/>
            <a:ext cx="4114800" cy="808968"/>
          </a:xfrm>
          <a:prstGeom prst="rect">
            <a:avLst/>
          </a:prstGeom>
          <a:solidFill>
            <a:srgbClr val="1D4ED8">
              <a:alpha val="12000"/>
            </a:srgbClr>
          </a:solidFill>
          <a:ln w="6350">
            <a:solidFill>
              <a:srgbClr val="1D4E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029968"/>
            <a:ext cx="3931920" cy="72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T (test cases)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a single integer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1≤T≤100, 1≤N≤10⁶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93391"/>
            <a:ext cx="4526280" cy="808967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02996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case: "Good Number" or "Bad Number".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875788"/>
            <a:ext cx="8778240" cy="685800"/>
          </a:xfrm>
          <a:prstGeom prst="rect">
            <a:avLst/>
          </a:prstGeom>
          <a:solidFill>
            <a:srgbClr val="1A1A2E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912088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N=18: digits sum = 1+8 = 9, 18÷9 = 2 → Good Number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N=19: digits sum = 1+9 = 10, 19÷10 not integer → Bad Number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N=21: digits sum = 2+1 = 3, 21÷3 = 7 → Good Number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739896"/>
            <a:ext cx="8778240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7810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digit sum of N. If N % digit_sum == 0 → 'Good Number' else 'Bad Number'.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64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QCC5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Manufacturing</a:t>
            </a:r>
            <a:endParaRPr lang="en-US" sz="2000" dirty="0"/>
          </a:p>
        </p:txBody>
      </p:sp>
      <p:pic>
        <p:nvPicPr>
          <p:cNvPr id="7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677156"/>
            <a:ext cx="1325880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749808"/>
            <a:ext cx="8778240" cy="2286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" y="84124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Math/equations — determine the count of two-wheelers and four-wheelers based on total vehicles and total wheels.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14630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V (total vehicles) and W (total wheels), find how many two-wheelers (T) and four-wheelers (F) need to be manufactured.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Equations: T + F = V  and  2T + 4F = 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valid combination exists, print -1.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084832"/>
            <a:ext cx="4114800" cy="731520"/>
          </a:xfrm>
          <a:prstGeom prst="rect">
            <a:avLst/>
          </a:prstGeom>
          <a:solidFill>
            <a:srgbClr val="1D4ED8">
              <a:alpha val="12000"/>
            </a:srgbClr>
          </a:solidFill>
          <a:ln w="6350">
            <a:solidFill>
              <a:srgbClr val="1D4E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21214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T (test cases)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line 1 = v (vehicles), line 2 = w (wheels)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1≤T≤100, 0≤v≤10⁶, 0≤w≤4×10⁶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2084832"/>
            <a:ext cx="4526280" cy="731520"/>
          </a:xfrm>
          <a:prstGeom prst="rect">
            <a:avLst/>
          </a:prstGeom>
          <a:solidFill>
            <a:srgbClr val="10B981">
              <a:alpha val="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26280" y="212140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valid: print two-wheelers and four-wheelers (space-separated)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invalid: print -1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816352"/>
            <a:ext cx="8778240" cy="594360"/>
          </a:xfrm>
          <a:prstGeom prst="rect">
            <a:avLst/>
          </a:prstGeom>
          <a:solidFill>
            <a:srgbClr val="1A1A2E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0040" y="2871216"/>
            <a:ext cx="8503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 </a:t>
            </a: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v=12, w=34 → 7 two-wheelers, 5 four-wheelers  (7+5=12, 14+20=34) 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v=10, w=25 → -1  (25 is odd, impossible with integer solution)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3483864"/>
            <a:ext cx="8778240" cy="347472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74320" y="3520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Solve: F = (W − 2V)/2. If F is non-negative integer and F ≤ V, then T = V − F is valid. Otherwise -1.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gradstre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65760"/>
            <a:ext cx="3108960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Problem Statements Covered!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NQT 2026  </a:t>
            </a:r>
            <a:r>
              <a:rPr lang="en-US" sz="14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Problems)</a:t>
            </a: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    </a:t>
            </a: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CodeChef  </a:t>
            </a:r>
            <a:r>
              <a:rPr lang="en-US" sz="14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Problems)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697480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0" y="2697480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560320" y="26974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2697480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663440" y="26974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766560" y="2697480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766560" y="26974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090672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30906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/ MST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60320" y="3090672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560320" y="30906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3090672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63440" y="30906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766560" y="3090672"/>
            <a:ext cx="2011680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766560" y="30906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Theory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luck for your TCS NQT! 🚀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GradStreet | Your Pathway to Career Success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3427</Words>
  <Application>Microsoft Office PowerPoint</Application>
  <PresentationFormat>On-screen Show (16:9)</PresentationFormat>
  <Paragraphs>403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Calibri 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NQT Problem Statements</dc:title>
  <dc:subject>PptxGenJS Presentation</dc:subject>
  <dc:creator>PptxGenJS</dc:creator>
  <cp:lastModifiedBy>Imandi Vanaja</cp:lastModifiedBy>
  <cp:revision>5</cp:revision>
  <dcterms:created xsi:type="dcterms:W3CDTF">2026-05-24T15:52:58Z</dcterms:created>
  <dcterms:modified xsi:type="dcterms:W3CDTF">2026-05-25T00:54:55Z</dcterms:modified>
</cp:coreProperties>
</file>